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48550/arXiv.2507.19457" TargetMode="External"/><Relationship Id="rId3" Type="http://schemas.openxmlformats.org/officeDocument/2006/relationships/hyperlink" Target="https://doi.org/10.18653/v1/2023.emnlp-main.15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ansformer-circuits.pub/2026/nla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i.org/10.48550/arXiv.2510.1551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1088136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121820"/>
                </a:solidFill>
                <a:latin typeface="Aptos"/>
              </a:rPr>
              <a:t>Latent-GEPA: Accelerating Prompt Optimization via Embedding Inversion and Latent Semantic Guidance in Large Language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37560" y="2331720"/>
            <a:ext cx="5486400" cy="438912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Bachelor Thesis in Data Intensive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090672"/>
            <a:ext cx="63093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Candidate: Simone Mazzacano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547872"/>
            <a:ext cx="6309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0">
                <a:solidFill>
                  <a:srgbClr val="121820"/>
                </a:solidFill>
                <a:latin typeface="Aptos"/>
              </a:rPr>
              <a:t>Supervisor: Prof. Gianluca Moro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86200"/>
            <a:ext cx="75895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0">
                <a:solidFill>
                  <a:srgbClr val="121820"/>
                </a:solidFill>
                <a:latin typeface="Aptos"/>
              </a:rPr>
              <a:t>Co-supervisors: Dr. Lorenzo Molfetta, Dr. Stefano Fantazzini, Dr. Giacomo Frisoni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617720"/>
            <a:ext cx="63093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86069"/>
                </a:solidFill>
                <a:latin typeface="Aptos"/>
              </a:rPr>
              <a:t>Computer Science and Engineering | Academic Year 2025-2026 | First Session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5303520"/>
            <a:ext cx="530352" cy="530352"/>
          </a:xfrm>
          <a:prstGeom prst="ellipse">
            <a:avLst/>
          </a:prstGeom>
          <a:solidFill>
            <a:srgbClr val="E2EEFA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9" name="Right Arrow 8"/>
          <p:cNvSpPr/>
          <p:nvPr/>
        </p:nvSpPr>
        <p:spPr>
          <a:xfrm>
            <a:off x="1792224" y="5468112"/>
            <a:ext cx="749808" cy="155448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965960" y="4983480"/>
            <a:ext cx="530352" cy="530352"/>
          </a:xfrm>
          <a:prstGeom prst="ellipse">
            <a:avLst/>
          </a:prstGeom>
          <a:solidFill>
            <a:srgbClr val="E3F4EB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1" name="Right Arrow 10"/>
          <p:cNvSpPr/>
          <p:nvPr/>
        </p:nvSpPr>
        <p:spPr>
          <a:xfrm>
            <a:off x="2478024" y="5148072"/>
            <a:ext cx="749808" cy="155448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5230368"/>
            <a:ext cx="530352" cy="530352"/>
          </a:xfrm>
          <a:prstGeom prst="ellipse">
            <a:avLst/>
          </a:prstGeom>
          <a:solidFill>
            <a:srgbClr val="FCEEDA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4873752"/>
            <a:ext cx="530352" cy="530352"/>
          </a:xfrm>
          <a:prstGeom prst="ellipse">
            <a:avLst/>
          </a:prstGeom>
          <a:solidFill>
            <a:srgbClr val="EEE8FA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Why Latent Text Needs Semantic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078992"/>
            <a:ext cx="2331720" cy="1170432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Problem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Large Language Model (LLM)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latent states can be decoded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into readable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3008" y="1078992"/>
            <a:ext cx="2331720" cy="1170432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Why it matters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Fluent reconstructions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can lose negation or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commonsense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64224" y="1078992"/>
            <a:ext cx="2331720" cy="1170432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New in this thesis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Semantic-Fidelity Corpus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Latent-GEPA tests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soft-prompt diagnostic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078992"/>
            <a:ext cx="2331720" cy="1170432"/>
          </a:xfrm>
          <a:prstGeom prst="roundRect">
            <a:avLst/>
          </a:prstGeom>
          <a:solidFill>
            <a:srgbClr val="EEE8FA"/>
          </a:solidFill>
          <a:ln w="15240">
            <a:solidFill>
              <a:srgbClr val="65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Roadmap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Semantic stress tests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-&gt; feedback loop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-&gt; matched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10744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84F8A"/>
                </a:solidFill>
                <a:latin typeface="Aptos"/>
              </a:rPr>
              <a:t>Concrete semantic-drift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182112"/>
            <a:ext cx="4434840" cy="676656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21820"/>
                </a:solidFill>
                <a:latin typeface="Aptos"/>
              </a:rPr>
              <a:t>The ice does not melt under the sun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3346704"/>
            <a:ext cx="749808" cy="201168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1696" y="3182112"/>
            <a:ext cx="4434840" cy="676656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21820"/>
                </a:solidFill>
                <a:latin typeface="Aptos"/>
              </a:rPr>
              <a:t>The ice melts under the sun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096512"/>
            <a:ext cx="1691640" cy="310896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Lexically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096512"/>
            <a:ext cx="1874519" cy="310896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Negation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4956048"/>
            <a:ext cx="9802368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Surface overlap is not semantic fidelity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Test meaning first; then test whether latent evidence improves judge-prompt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From Readouts to Prompt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536192" cy="91440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Task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example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67128" y="1737360"/>
            <a:ext cx="457200" cy="21031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79" y="1417320"/>
            <a:ext cx="1536192" cy="91440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Base judge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fixed weights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41648" y="1737360"/>
            <a:ext cx="457200" cy="21031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1536192" cy="914400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Score +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error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6168" y="1737360"/>
            <a:ext cx="457200" cy="21031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1536192" cy="914400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Feedback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record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90688" y="1737360"/>
            <a:ext cx="457200" cy="21031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1536192" cy="914400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Proposer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rewrites prompt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65208" y="1737360"/>
            <a:ext cx="457200" cy="21031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59" y="1417320"/>
            <a:ext cx="1536192" cy="914400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New judge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88920"/>
            <a:ext cx="5230368" cy="1901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84F8A"/>
                </a:solidFill>
                <a:latin typeface="Aptos"/>
              </a:rPr>
              <a:t>LLM-as-a-judge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The model scores generated text against a rubric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Quality is measured by agreement with human judgments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The evaluated judge remains fixed during prompt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788920"/>
            <a:ext cx="5230368" cy="1901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27E55"/>
                </a:solidFill>
                <a:latin typeface="Aptos"/>
              </a:rPr>
              <a:t>Latent-GEPA idea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GEPA: reflective prompt search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Search space: natural-language prompts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Latent signals are attached to reflection feedback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The proposer receives richer evidence for prompt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2870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84F8A"/>
                </a:solidFill>
                <a:latin typeface="Aptos"/>
              </a:rPr>
              <a:t>Key terms: Base judge | Proposer | Feedback | Held-out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760720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84F8A"/>
                </a:solidFill>
                <a:latin typeface="Aptos"/>
              </a:rPr>
              <a:t/>
            </a:r>
            <a:r>
              <a:rPr sz="850" b="0">
                <a:solidFill>
                  <a:srgbClr val="184F8A"/>
                </a:solidFill>
                <a:latin typeface="Aptos"/>
                <a:hlinkClick r:id="rId2"/>
              </a:rPr>
              <a:t>GEPA: Agrawal et al.,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760720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84F8A"/>
                </a:solidFill>
                <a:latin typeface="Aptos"/>
              </a:rPr>
              <a:t/>
            </a:r>
            <a:r>
              <a:rPr sz="850" b="0">
                <a:solidFill>
                  <a:srgbClr val="184F8A"/>
                </a:solidFill>
                <a:latin typeface="Aptos"/>
                <a:hlinkClick r:id="rId3"/>
              </a:rPr>
              <a:t>G-EVAL: Liu et al.,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Thesis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063240" cy="786384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RQ1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Semantic fidelity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59152"/>
            <a:ext cx="30632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New controlled corpus for fragile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3063240" cy="65836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Corpus validated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4" y="1325880"/>
            <a:ext cx="3063240" cy="786384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RQ2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Latent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2359152"/>
            <a:ext cx="30632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GEPA feedback enriched with PPL and activation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3794760"/>
            <a:ext cx="3063240" cy="65836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PPL helps most clearly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6408" y="1325880"/>
            <a:ext cx="3063240" cy="786384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RQ3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Soft 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6408" y="2359152"/>
            <a:ext cx="30632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Continuous-prompt readout tests semantic transparency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3794760"/>
            <a:ext cx="3063240" cy="65836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Useful but opaque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074920"/>
            <a:ext cx="103784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84F8A"/>
                </a:solidFill>
                <a:latin typeface="Aptos"/>
              </a:rPr>
              <a:t>The contributions connect the corpus, the feedback loop, and the final claim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Semantic-Fidelity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84F8A"/>
                </a:solidFill>
                <a:latin typeface="Aptos"/>
              </a:rPr>
              <a:t>A new 2080-row surface: 1060 examples or contrastive pairs built around meaning-changing contrasts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880360" cy="56692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Block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2880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40 rows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Standard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47872"/>
            <a:ext cx="2880360" cy="694944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Ordinary short sentences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08760"/>
            <a:ext cx="2880360" cy="56692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Block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12848"/>
            <a:ext cx="2880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720 rows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Negation and polarity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547872"/>
            <a:ext cx="2880360" cy="694944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Positive/negative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508760"/>
            <a:ext cx="2880360" cy="5669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Block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212848"/>
            <a:ext cx="2880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1320 rows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Commonsense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547872"/>
            <a:ext cx="2880360" cy="694944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Plausible vs counterfactual pairs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2880360" cy="84124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A example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The meeting starts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at nine in the morning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572000"/>
            <a:ext cx="2880360" cy="84124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B contrast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The church is empty of song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-&gt; filled with song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572000"/>
            <a:ext cx="2880360" cy="84124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C contrast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when it rains humidity forms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-&gt; when it is hot humidity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733288"/>
            <a:ext cx="101498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586069"/>
                </a:solidFill>
                <a:latin typeface="Aptos"/>
              </a:rPr>
              <a:t>Stable metadata joins inversion, activation verbalization, and scoring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Latent-GEPA Feedback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1572768" cy="84124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Seed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prompt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12264" y="1847088"/>
            <a:ext cx="329184" cy="16459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39" y="1554480"/>
            <a:ext cx="1572768" cy="84124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Task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examples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86783" y="1847088"/>
            <a:ext cx="329184" cy="16459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554480"/>
            <a:ext cx="1572768" cy="84124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Base judge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evaluation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3" y="1847088"/>
            <a:ext cx="329184" cy="16459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554480"/>
            <a:ext cx="1572768" cy="841248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Reflection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feedback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5823" y="1847088"/>
            <a:ext cx="329184" cy="16459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54480"/>
            <a:ext cx="1572768" cy="84124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Proposer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candidate prompts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10344" y="1847088"/>
            <a:ext cx="329184" cy="164592"/>
          </a:xfrm>
          <a:prstGeom prst="rightArrow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1572768" cy="84124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Validation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frontier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3017520"/>
            <a:ext cx="5413248" cy="1188720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Latent feedback attached to reflection data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Perplexity (PPL): response surprisal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Natural Language Activations (NLA): activation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526280"/>
            <a:ext cx="1024128" cy="310896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526280"/>
            <a:ext cx="749808" cy="310896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PPL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526280"/>
            <a:ext cx="749808" cy="310896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NLA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526280"/>
            <a:ext cx="2212848" cy="310896"/>
          </a:xfrm>
          <a:prstGeom prst="roundRect">
            <a:avLst/>
          </a:prstGeom>
          <a:solidFill>
            <a:srgbClr val="EEE8FA"/>
          </a:solidFill>
          <a:ln w="15240">
            <a:solidFill>
              <a:srgbClr val="65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1820"/>
                </a:solidFill>
                <a:latin typeface="Aptos"/>
              </a:rPr>
              <a:t>Optional aux 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440680"/>
            <a:ext cx="107442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84F8A"/>
                </a:solidFill>
                <a:latin typeface="Aptos"/>
              </a:rPr>
              <a:t>Final held-out evaluation is run only after validation-time prompt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25312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84F8A"/>
                </a:solidFill>
                <a:latin typeface="Aptos"/>
              </a:rPr>
              <a:t/>
            </a:r>
            <a:r>
              <a:rPr sz="850" b="0">
                <a:solidFill>
                  <a:srgbClr val="184F8A"/>
                </a:solidFill>
                <a:latin typeface="Aptos"/>
                <a:hlinkClick r:id="rId2"/>
              </a:rPr>
              <a:t>NLA: Fraser-Taliente et al.,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What Feedback Was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15568"/>
            <a:ext cx="2971800" cy="56692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Metric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13632" y="1115568"/>
            <a:ext cx="70866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Target, prediction, and error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48256"/>
            <a:ext cx="2971800" cy="5669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Metric + PPL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13632" y="2048256"/>
            <a:ext cx="70866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Adds response-only perplexity from the base judge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80944"/>
            <a:ext cx="2971800" cy="56692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Metric + PPL + raw NLA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632" y="2980944"/>
            <a:ext cx="70866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Adds verbalizations from selected token positions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13632"/>
            <a:ext cx="2971800" cy="566928"/>
          </a:xfrm>
          <a:prstGeom prst="roundRect">
            <a:avLst/>
          </a:prstGeom>
          <a:solidFill>
            <a:srgbClr val="EEE8FA"/>
          </a:solidFill>
          <a:ln w="15240">
            <a:solidFill>
              <a:srgbClr val="65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Metric + PPL + schema-fixed NLA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3913632"/>
            <a:ext cx="70866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5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Cleaner metadata and token status; verbalizer not retrained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470916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84F8A"/>
                </a:solidFill>
                <a:latin typeface="Aptos"/>
              </a:rPr>
              <a:t>Main evaluation task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Topical-Chat / USR engagingness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Human agreement metrics on held-out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074920"/>
            <a:ext cx="470916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27E55"/>
                </a:solidFill>
                <a:latin typeface="Aptos"/>
              </a:rPr>
              <a:t>Model roles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Qwen2.5-7B judge/PPL model; layer-20 verbalizer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21820"/>
                </a:solidFill>
                <a:latin typeface="Aptos"/>
              </a:rPr>
              <a:t>Qwen35B proposer; final scores from 7B 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Useful Does Not Mean Interpretable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43000"/>
            <a:ext cx="3154680" cy="10241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Discrete tokens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SIPIT exact recovery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100/100 GPT-2; 40/40 logical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6512" y="1143000"/>
            <a:ext cx="3154680" cy="1024128"/>
          </a:xfrm>
          <a:prstGeom prst="roundRect">
            <a:avLst/>
          </a:prstGeom>
          <a:solidFill>
            <a:srgbClr val="FCEEDA"/>
          </a:solidFill>
          <a:ln w="15240">
            <a:solidFill>
              <a:srgbClr val="C97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Embedding inversion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Full-mask probes weak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Tiny overfit positive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79792" y="1143000"/>
            <a:ext cx="3154680" cy="102412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Soft prompts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Task-active runs exist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Exact readout still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468880"/>
            <a:ext cx="6903720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pic>
        <p:nvPicPr>
          <p:cNvPr id="7" name="Picture 6" descr="soft_prompt_deltas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523744"/>
            <a:ext cx="6793992" cy="3072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2578608"/>
            <a:ext cx="3246120" cy="7315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Relabeled source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soft_prompt_deltas.pdf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3584448"/>
            <a:ext cx="3246120" cy="950976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The positive soft-prompt deltas do not make the learned vectors semantically transparent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4773168"/>
            <a:ext cx="3246120" cy="713232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Boundary: usefulness and interpretability are separate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84F8A"/>
                </a:solidFill>
                <a:latin typeface="Aptos"/>
              </a:rPr>
              <a:t/>
            </a:r>
            <a:r>
              <a:rPr sz="850" b="0">
                <a:solidFill>
                  <a:srgbClr val="184F8A"/>
                </a:solidFill>
                <a:latin typeface="Aptos"/>
                <a:hlinkClick r:id="rId3"/>
              </a:rPr>
              <a:t>SIPIT: Nikolaou et al.,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Perplexity Helps Most Clearly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88720"/>
            <a:ext cx="2514600" cy="10241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Pearson</a:t>
            </a:r>
          </a:p>
          <a:p>
            <a:pPr algn="l"/>
            <a:r>
              <a:rPr sz="2000" b="1">
                <a:solidFill>
                  <a:srgbClr val="227E55"/>
                </a:solidFill>
                <a:latin typeface="Aptos"/>
              </a:rPr>
              <a:t>0.5518 -&gt; 0.6328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01568" y="1188720"/>
            <a:ext cx="2514600" cy="10241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Spearman</a:t>
            </a:r>
          </a:p>
          <a:p>
            <a:pPr algn="l"/>
            <a:r>
              <a:rPr sz="2000" b="1">
                <a:solidFill>
                  <a:srgbClr val="227E55"/>
                </a:solidFill>
                <a:latin typeface="Aptos"/>
              </a:rPr>
              <a:t>0.5478 -&gt; 0.6199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9904" y="1188720"/>
            <a:ext cx="2514600" cy="10241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Agreement</a:t>
            </a:r>
          </a:p>
          <a:p>
            <a:pPr algn="l"/>
            <a:r>
              <a:rPr sz="2000" b="1">
                <a:solidFill>
                  <a:srgbClr val="227E55"/>
                </a:solidFill>
                <a:latin typeface="Aptos"/>
              </a:rPr>
              <a:t>0.7611 -&gt; 0.7889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188720"/>
            <a:ext cx="2514600" cy="102412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MAE</a:t>
            </a:r>
          </a:p>
          <a:p>
            <a:pPr algn="l"/>
            <a:r>
              <a:rPr sz="2000" b="1">
                <a:solidFill>
                  <a:srgbClr val="227E55"/>
                </a:solidFill>
                <a:latin typeface="Aptos"/>
              </a:rPr>
              <a:t>0.4778 -&gt; 0.4222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880360"/>
            <a:ext cx="507492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PPL long run on Topical-Chat / USR engagingness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21820"/>
                </a:solidFill>
                <a:latin typeface="Aptos"/>
              </a:rPr>
              <a:t>Baseline prompt -&gt; optimized prompt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21820"/>
                </a:solidFill>
                <a:latin typeface="Aptos"/>
              </a:rPr>
              <a:t>All reported metrics move in the favorable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80360"/>
            <a:ext cx="4681728" cy="1627632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21820"/>
                </a:solidFill>
                <a:latin typeface="Aptos"/>
              </a:rPr>
              <a:t>Model-confidence feedback can help GEPA sharpen a judge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2870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586069"/>
                </a:solidFill>
                <a:latin typeface="Aptos"/>
              </a:rPr>
              <a:t>Selected prompt emphasizes specificity, conversational momentum, meaningful follow-up, and concrete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NLA Is Diagnostic, Not Yet Conclusive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690372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/>
            </a:r>
          </a:p>
        </p:txBody>
      </p:sp>
      <p:pic>
        <p:nvPicPr>
          <p:cNvPr id="4" name="Picture 3" descr="gepa_long_ru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133856"/>
            <a:ext cx="6793992" cy="29992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097280"/>
            <a:ext cx="3520440" cy="676656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Matched long-run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938528"/>
            <a:ext cx="3520440" cy="749808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Raw NLA underperformed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matched PPL-only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871216"/>
            <a:ext cx="3520440" cy="749808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Schema-fixed NLA: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small upward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803904"/>
            <a:ext cx="3520440" cy="749808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Selected prompt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stayed unchanged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572000"/>
            <a:ext cx="3246120" cy="685800"/>
          </a:xfrm>
          <a:prstGeom prst="roundRect">
            <a:avLst/>
          </a:prstGeom>
          <a:solidFill>
            <a:srgbClr val="F8E4E4"/>
          </a:solidFill>
          <a:ln w="15240">
            <a:solidFill>
              <a:srgbClr val="A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Raw NLA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Pearson 0.5111, MAE 0.6167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4572000"/>
            <a:ext cx="3246120" cy="685800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Schema-fixed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Pearson 0.6812, MAE 0.4944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4572000"/>
            <a:ext cx="2971800" cy="68580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2/60 final-test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predictions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532120"/>
            <a:ext cx="10561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84F8A"/>
                </a:solidFill>
                <a:latin typeface="Aptos"/>
              </a:rPr>
              <a:t>Conclusion: NLA is diagnostic evidence, but not yet a robust prompt-improvement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21820"/>
                </a:solidFill>
                <a:latin typeface="Aptos"/>
              </a:rPr>
              <a:t>Conclusions and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143000"/>
            <a:ext cx="5138928" cy="502920"/>
          </a:xfrm>
          <a:prstGeom prst="roundRect">
            <a:avLst/>
          </a:prstGeom>
          <a:solidFill>
            <a:srgbClr val="E3F4EB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What the thesis established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43000"/>
            <a:ext cx="5138928" cy="50292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What remains 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74519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Controlled corpus for semantic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60604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Discrete recovery vs soft-prompt opacity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333756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Matched Latent-GEPA feedback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406908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Clearest positive evidence: PPL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NLA token/layer selection, deduplication, compression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0604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Target-score probabilities beyond PPL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33756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Matched SummEval and QAGS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069080"/>
            <a:ext cx="47091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21820"/>
                </a:solidFill>
                <a:latin typeface="Aptos"/>
              </a:rPr>
              <a:t>Stronger continuous-prompt readout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30368"/>
            <a:ext cx="10149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21820"/>
                </a:solidFill>
                <a:latin typeface="Aptos"/>
              </a:rPr>
              <a:t>Latent evidence is useful, but its interface to prompt optimization must be designed and validated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Simone Mazzacano | Latent-GEPA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651052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Bachelor Thesis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60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